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E-Commerce Customer Behavior &amp; Churn Prediction System</a:t>
            </a:r>
          </a:p>
          <a:p>
            <a:pPr algn="ctr">
              <a:spcAft>
                <a:spcPts val="1000"/>
              </a:spcAft>
              <a:defRPr sz="1800"/>
            </a:pPr>
            <a:r>
              <a:t>Cognevance Level 3 – Advanced Big Data Analytics &amp; Predictive Intelligence</a:t>
            </a:r>
          </a:p>
          <a:p>
            <a:pPr algn="ctr">
              <a:spcAft>
                <a:spcPts val="1000"/>
              </a:spcAft>
              <a:defRPr sz="1800"/>
            </a:pPr>
            <a:r>
              <a:t>Python • SQL • PySpark • Machine Learning • Power BI</a:t>
            </a:r>
          </a:p>
          <a:p>
            <a:pPr algn="ctr">
              <a:spcAft>
                <a:spcPts val="1000"/>
              </a:spcAft>
              <a:defRPr sz="1800"/>
            </a:pPr>
            <a:r>
              <a:t>Presented by Likhith Chemuduri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E-commerce businesses generate large volumes of transaction data that can be difficult to interpret manually.</a:t>
            </a:r>
          </a:p>
          <a:p>
            <a:pPr>
              <a:spcAft>
                <a:spcPts val="800"/>
              </a:spcAft>
              <a:defRPr sz="1800"/>
            </a:pPr>
            <a:r>
              <a:t>Understanding customer purchasing behavior is important for improving retention and business performance.</a:t>
            </a:r>
          </a:p>
          <a:p>
            <a:pPr>
              <a:spcAft>
                <a:spcPts val="800"/>
              </a:spcAft>
              <a:defRPr sz="1800"/>
            </a:pPr>
            <a:r>
              <a:t>The project identifies valuable customers, analyzes purchasing patterns, and predicts churn risk.</a:t>
            </a:r>
          </a:p>
          <a:p>
            <a:pPr>
              <a:spcAft>
                <a:spcPts val="800"/>
              </a:spcAft>
              <a:defRPr sz="1800"/>
            </a:pPr>
            <a:r>
              <a:t>The solution combines historical analytics, segmentation, machine learning, big-data processing, and visualization.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Analyze large-scale e-commerce transaction data.</a:t>
            </a:r>
          </a:p>
          <a:p>
            <a:pPr>
              <a:spcAft>
                <a:spcPts val="800"/>
              </a:spcAft>
              <a:defRPr sz="1800"/>
            </a:pPr>
            <a:r>
              <a:t>Perform advanced data cleaning and feature engineering.</a:t>
            </a:r>
          </a:p>
          <a:p>
            <a:pPr>
              <a:spcAft>
                <a:spcPts val="800"/>
              </a:spcAft>
              <a:defRPr sz="1800"/>
            </a:pPr>
            <a:r>
              <a:t>Use SQL and PySpark for scalable analytics.</a:t>
            </a:r>
          </a:p>
          <a:p>
            <a:pPr>
              <a:spcAft>
                <a:spcPts val="800"/>
              </a:spcAft>
              <a:defRPr sz="1800"/>
            </a:pPr>
            <a:r>
              <a:t>Segment customers using RFM analysis.</a:t>
            </a:r>
          </a:p>
          <a:p>
            <a:pPr>
              <a:spcAft>
                <a:spcPts val="800"/>
              </a:spcAft>
              <a:defRPr sz="1800"/>
            </a:pPr>
            <a:r>
              <a:t>Build a Logistic Regression model for churn prediction.</a:t>
            </a:r>
          </a:p>
          <a:p>
            <a:pPr>
              <a:spcAft>
                <a:spcPts val="800"/>
              </a:spcAft>
              <a:defRPr sz="1800"/>
            </a:pPr>
            <a:r>
              <a:t>Create an interactive Power BI dashboard.</a:t>
            </a:r>
          </a:p>
          <a:p>
            <a:pPr>
              <a:spcAft>
                <a:spcPts val="800"/>
              </a:spcAft>
              <a:defRPr sz="1800"/>
            </a:pPr>
            <a:r>
              <a:t>Generate actionable business insights and recommendations.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Dataset: UCI Online Retail II.</a:t>
            </a:r>
          </a:p>
          <a:p>
            <a:pPr>
              <a:spcAft>
                <a:spcPts val="800"/>
              </a:spcAft>
              <a:defRPr sz="1800"/>
            </a:pPr>
            <a:r>
              <a:t>Source: UCI Machine Learning Repository.</a:t>
            </a:r>
          </a:p>
          <a:p>
            <a:pPr>
              <a:spcAft>
                <a:spcPts val="800"/>
              </a:spcAft>
              <a:defRPr sz="1800"/>
            </a:pPr>
            <a:r>
              <a:t>Fields include Invoice, StockCode, Description, Quantity, InvoiceDate, Price, Customer ID, and Country.</a:t>
            </a:r>
          </a:p>
          <a:p>
            <a:pPr>
              <a:spcAft>
                <a:spcPts val="800"/>
              </a:spcAft>
              <a:defRPr sz="1800"/>
            </a:pPr>
            <a:r>
              <a:t>The dataset supports large-scale transaction analytics.</a:t>
            </a:r>
          </a:p>
          <a:p>
            <a:pPr>
              <a:spcAft>
                <a:spcPts val="800"/>
              </a:spcAft>
              <a:defRPr sz="1800"/>
            </a:pPr>
            <a:r>
              <a:t>The original raw dataset is not stored in GitHub because of its file size.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End-to-End Project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UCI Online Retail II Dataset  →  Data Collection</a:t>
            </a:r>
          </a:p>
          <a:p>
            <a:pPr>
              <a:spcAft>
                <a:spcPts val="800"/>
              </a:spcAft>
              <a:defRPr sz="1700"/>
            </a:pPr>
            <a:r>
              <a:t>↓ Data Cleaning &amp; Preprocessing</a:t>
            </a:r>
          </a:p>
          <a:p>
            <a:pPr>
              <a:spcAft>
                <a:spcPts val="800"/>
              </a:spcAft>
              <a:defRPr sz="1700"/>
            </a:pPr>
            <a:r>
              <a:t>↓ Feature Engineering</a:t>
            </a:r>
          </a:p>
          <a:p>
            <a:pPr>
              <a:spcAft>
                <a:spcPts val="800"/>
              </a:spcAft>
              <a:defRPr sz="1700"/>
            </a:pPr>
            <a:r>
              <a:t>↓ PySpark Big Data Processing + SQL Analytics / EDA</a:t>
            </a:r>
          </a:p>
          <a:p>
            <a:pPr>
              <a:spcAft>
                <a:spcPts val="800"/>
              </a:spcAft>
              <a:defRPr sz="1700"/>
            </a:pPr>
            <a:r>
              <a:t>↓ RFM Customer Segmentation</a:t>
            </a:r>
          </a:p>
          <a:p>
            <a:pPr>
              <a:spcAft>
                <a:spcPts val="800"/>
              </a:spcAft>
              <a:defRPr sz="1700"/>
            </a:pPr>
            <a:r>
              <a:t>↓ Logistic Regression → Churn Prediction</a:t>
            </a:r>
          </a:p>
          <a:p>
            <a:pPr>
              <a:spcAft>
                <a:spcPts val="800"/>
              </a:spcAft>
              <a:defRPr sz="1700"/>
            </a:pPr>
            <a:r>
              <a:t>↓ Power BI Dashboard</a:t>
            </a:r>
          </a:p>
          <a:p>
            <a:pPr>
              <a:spcAft>
                <a:spcPts val="800"/>
              </a:spcAft>
              <a:defRPr sz="1700"/>
            </a:pPr>
            <a:r>
              <a:t>↓ Business Insights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Data Preprocessing &amp; 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Removed duplicate transactions.</a:t>
            </a:r>
          </a:p>
          <a:p>
            <a:pPr>
              <a:spcAft>
                <a:spcPts val="800"/>
              </a:spcAft>
              <a:defRPr sz="1800"/>
            </a:pPr>
            <a:r>
              <a:t>Removed invalid or negative quantities and non-positive prices.</a:t>
            </a:r>
          </a:p>
          <a:p>
            <a:pPr>
              <a:spcAft>
                <a:spcPts val="800"/>
              </a:spcAft>
              <a:defRPr sz="1800"/>
            </a:pPr>
            <a:r>
              <a:t>Removed records with missing descriptions and missing Customer IDs.</a:t>
            </a:r>
          </a:p>
          <a:p>
            <a:pPr>
              <a:spcAft>
                <a:spcPts val="800"/>
              </a:spcAft>
              <a:defRPr sz="1800"/>
            </a:pPr>
            <a:r>
              <a:t>Converted InvoiceDate to datetime and Customer ID to integer.</a:t>
            </a:r>
          </a:p>
          <a:p>
            <a:pPr>
              <a:spcAft>
                <a:spcPts val="800"/>
              </a:spcAft>
              <a:defRPr sz="1800"/>
            </a:pPr>
            <a:r>
              <a:t>Created Total_Sales = Quantity × Price.</a:t>
            </a:r>
          </a:p>
          <a:p>
            <a:pPr>
              <a:spcAft>
                <a:spcPts val="800"/>
              </a:spcAft>
              <a:defRPr sz="1800"/>
            </a:pPr>
            <a:r>
              <a:t>Created Year, Month, Day, Hour, Month_Name, Day_of_Week, and Transaction features.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SQL &amp; PySpark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SQLite/SQL was used for revenue, orders, customer frequency, country, monthly, yearly, and high-value customer analysis.</a:t>
            </a:r>
          </a:p>
          <a:p>
            <a:pPr>
              <a:spcAft>
                <a:spcPts val="800"/>
              </a:spcAft>
              <a:defRPr sz="1800"/>
            </a:pPr>
            <a:r>
              <a:t>PySpark was added to demonstrate scalable big-data processing using Spark DataFrames and aggregations.</a:t>
            </a:r>
          </a:p>
          <a:p>
            <a:pPr>
              <a:spcAft>
                <a:spcPts val="800"/>
              </a:spcAft>
              <a:defRPr sz="1800"/>
            </a:pPr>
            <a:r>
              <a:t>PySpark analyses included customer revenue, country revenue, monthly revenue, product revenue, and customer order frequency.</a:t>
            </a:r>
          </a:p>
          <a:p>
            <a:pPr>
              <a:spcAft>
                <a:spcPts val="800"/>
              </a:spcAft>
              <a:defRPr sz="1800"/>
            </a:pPr>
            <a:r>
              <a:t>Pandas and PySpark revenue calculations were compared to validate consistency.</a:t>
            </a:r>
          </a:p>
          <a:p>
            <a:pPr>
              <a:spcAft>
                <a:spcPts val="800"/>
              </a:spcAft>
              <a:defRPr sz="1800"/>
            </a:pPr>
            <a:r>
              <a:t>Outputs were exported as CSV files for reporting and GitHub documentation.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Customer Behavior &amp; RFM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Customer behavior was analyzed using total spending, number of orders, quantity purchased, product variety, and average order value.</a:t>
            </a:r>
          </a:p>
          <a:p>
            <a:pPr>
              <a:spcAft>
                <a:spcPts val="800"/>
              </a:spcAft>
              <a:defRPr sz="1800"/>
            </a:pPr>
            <a:r>
              <a:t>RFM evaluates Recency, Frequency, and Monetary value.</a:t>
            </a:r>
          </a:p>
          <a:p>
            <a:pPr>
              <a:spcAft>
                <a:spcPts val="800"/>
              </a:spcAft>
              <a:defRPr sz="1800"/>
            </a:pPr>
            <a:r>
              <a:t>Segments: Champions, Loyal Customers, Potential Loyalists, At Risk, and Lost Customers.</a:t>
            </a:r>
          </a:p>
          <a:p>
            <a:pPr>
              <a:spcAft>
                <a:spcPts val="800"/>
              </a:spcAft>
              <a:defRPr sz="1800"/>
            </a:pPr>
            <a:r>
              <a:t>Segmentation supports targeted retention, loyalty, and reactivation strategies.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Machine Learning – Churn 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Model: Logistic Regression.</a:t>
            </a:r>
          </a:p>
          <a:p>
            <a:pPr>
              <a:spcAft>
                <a:spcPts val="800"/>
              </a:spcAft>
              <a:defRPr sz="1700"/>
            </a:pPr>
            <a:r>
              <a:t>Features: Recency, Frequency, Monetary, Total Quantity, Product Count, and Average Order Value.</a:t>
            </a:r>
          </a:p>
          <a:p>
            <a:pPr>
              <a:spcAft>
                <a:spcPts val="800"/>
              </a:spcAft>
              <a:defRPr sz="1700"/>
            </a:pPr>
            <a:r>
              <a:t>Customers receive a churn probability and predicted churn class.</a:t>
            </a:r>
          </a:p>
          <a:p>
            <a:pPr>
              <a:spcAft>
                <a:spcPts val="800"/>
              </a:spcAft>
              <a:defRPr sz="1700"/>
            </a:pPr>
            <a:r>
              <a:t>Risk categories: Low Risk, Medium Risk, and High Risk.</a:t>
            </a:r>
          </a:p>
          <a:p>
            <a:pPr>
              <a:spcAft>
                <a:spcPts val="800"/>
              </a:spcAft>
              <a:defRPr sz="1700"/>
            </a:pPr>
            <a:r>
              <a:t>The trained model and scaler are included in the repository.</a:t>
            </a:r>
          </a:p>
          <a:p>
            <a:pPr>
              <a:spcAft>
                <a:spcPts val="800"/>
              </a:spcAft>
              <a:defRPr sz="1700"/>
            </a:pPr>
            <a:r>
              <a:t>The model supports proactive customer-retention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Power BI Executive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Total Revenue: 8,798,233.74</a:t>
            </a:r>
          </a:p>
          <a:p>
            <a:pPr>
              <a:spcAft>
                <a:spcPts val="800"/>
              </a:spcAft>
              <a:defRPr sz="1700"/>
            </a:pPr>
            <a:r>
              <a:t>Total Customers: 4,314</a:t>
            </a:r>
          </a:p>
          <a:p>
            <a:pPr>
              <a:spcAft>
                <a:spcPts val="800"/>
              </a:spcAft>
              <a:defRPr sz="1700"/>
            </a:pPr>
            <a:r>
              <a:t>Total Orders: 19,215</a:t>
            </a:r>
          </a:p>
          <a:p>
            <a:pPr>
              <a:spcAft>
                <a:spcPts val="800"/>
              </a:spcAft>
              <a:defRPr sz="1700"/>
            </a:pPr>
            <a:r>
              <a:t>Revenue by Country</a:t>
            </a:r>
          </a:p>
          <a:p>
            <a:pPr>
              <a:spcAft>
                <a:spcPts val="800"/>
              </a:spcAft>
              <a:defRPr sz="1700"/>
            </a:pPr>
            <a:r>
              <a:t>Customer Segment Distribution</a:t>
            </a:r>
          </a:p>
          <a:p>
            <a:pPr>
              <a:spcAft>
                <a:spcPts val="800"/>
              </a:spcAft>
              <a:defRPr sz="1700"/>
            </a:pPr>
            <a:r>
              <a:t>Customer Churn Risk Distribution</a:t>
            </a:r>
          </a:p>
          <a:p>
            <a:pPr>
              <a:spcAft>
                <a:spcPts val="800"/>
              </a:spcAft>
              <a:defRPr sz="1700"/>
            </a:pPr>
            <a:r>
              <a:t>Customers by Churn Risk</a:t>
            </a:r>
          </a:p>
          <a:p>
            <a:pPr>
              <a:spcAft>
                <a:spcPts val="800"/>
              </a:spcAft>
              <a:defRPr sz="1700"/>
            </a:pPr>
            <a:r>
              <a:t>Top 10 Customers by Revenue</a:t>
            </a:r>
          </a:p>
          <a:p>
            <a:pPr>
              <a:spcAft>
                <a:spcPts val="800"/>
              </a:spcAft>
              <a:defRPr sz="1700"/>
            </a:pPr>
            <a:r>
              <a:t>Average Churn Probability by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Predictive Insights &amp; Business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Retain high-risk customers using personalized offers, discounts, reminders, and product recommendations.</a:t>
            </a:r>
          </a:p>
          <a:p>
            <a:pPr>
              <a:spcAft>
                <a:spcPts val="800"/>
              </a:spcAft>
              <a:defRPr sz="1800"/>
            </a:pPr>
            <a:r>
              <a:t>Reward Champions and high-value customers through loyalty benefits and exclusive offers.</a:t>
            </a:r>
          </a:p>
          <a:p>
            <a:pPr>
              <a:spcAft>
                <a:spcPts val="800"/>
              </a:spcAft>
              <a:defRPr sz="1800"/>
            </a:pPr>
            <a:r>
              <a:t>Reactivate Lost Customers with targeted re-engagement campaigns.</a:t>
            </a:r>
          </a:p>
          <a:p>
            <a:pPr>
              <a:spcAft>
                <a:spcPts val="800"/>
              </a:spcAft>
              <a:defRPr sz="1800"/>
            </a:pPr>
            <a:r>
              <a:t>Encourage Potential Loyalists to increase purchase frequency.</a:t>
            </a:r>
          </a:p>
          <a:p>
            <a:pPr>
              <a:spcAft>
                <a:spcPts val="800"/>
              </a:spcAft>
              <a:defRPr sz="1800"/>
            </a:pPr>
            <a:r>
              <a:t>Focus marketing and inventory planning on high-revenue markets.</a:t>
            </a:r>
          </a:p>
          <a:p>
            <a:pPr>
              <a:spcAft>
                <a:spcPts val="800"/>
              </a:spcAft>
              <a:defRPr sz="1800"/>
            </a:pPr>
            <a:r>
              <a:t>Monitor revenue, orders, customers, average order value, and churn risk regularly.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11. Results &amp; Project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Created an end-to-end analytics pipeline from transaction data to business recommendations.</a:t>
            </a:r>
          </a:p>
          <a:p>
            <a:pPr>
              <a:spcAft>
                <a:spcPts val="800"/>
              </a:spcAft>
              <a:defRPr sz="1700"/>
            </a:pPr>
            <a:r>
              <a:t>Combined Python, SQL, PySpark, RFM segmentation, machine learning, and Power BI.</a:t>
            </a:r>
          </a:p>
          <a:p>
            <a:pPr>
              <a:spcAft>
                <a:spcPts val="800"/>
              </a:spcAft>
              <a:defRPr sz="1700"/>
            </a:pPr>
            <a:r>
              <a:t>Identified customer value and engagement patterns through behavioral analysis.</a:t>
            </a:r>
          </a:p>
          <a:p>
            <a:pPr>
              <a:spcAft>
                <a:spcPts val="800"/>
              </a:spcAft>
              <a:defRPr sz="1700"/>
            </a:pPr>
            <a:r>
              <a:t>Produced churn probabilities and risk categories to support retention strategies.</a:t>
            </a:r>
          </a:p>
          <a:p>
            <a:pPr>
              <a:spcAft>
                <a:spcPts val="800"/>
              </a:spcAft>
              <a:defRPr sz="1700"/>
            </a:pPr>
            <a:r>
              <a:t>Created reusable analytical outputs, model artifacts, dashboard documentation, and a GitHub repository.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12. Conclusion &amp; Future Enhancements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3444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/>
            </a:pPr>
            <a:r>
              <a:t>The project demonstrates how transaction data can be transformed into actionable customer and business intelligence.</a:t>
            </a:r>
          </a:p>
          <a:p>
            <a:pPr>
              <a:spcAft>
                <a:spcPts val="800"/>
              </a:spcAft>
              <a:defRPr sz="1700"/>
            </a:pPr>
            <a:r>
              <a:t>The combined analytics and predictive workflow supports data-driven customer retention and performance monitoring.</a:t>
            </a:r>
          </a:p>
          <a:p>
            <a:pPr>
              <a:spcAft>
                <a:spcPts val="800"/>
              </a:spcAft>
              <a:defRPr sz="1700"/>
            </a:pPr>
            <a:r>
              <a:t>Future: deploy the churn model as an API.</a:t>
            </a:r>
          </a:p>
          <a:p>
            <a:pPr>
              <a:spcAft>
                <a:spcPts val="800"/>
              </a:spcAft>
              <a:defRPr sz="1700"/>
            </a:pPr>
            <a:r>
              <a:t>Future: add customer lifetime value prediction.</a:t>
            </a:r>
          </a:p>
          <a:p>
            <a:pPr>
              <a:spcAft>
                <a:spcPts val="800"/>
              </a:spcAft>
              <a:defRPr sz="1700"/>
            </a:pPr>
            <a:r>
              <a:t>Future: use more advanced churn and forecasting models.</a:t>
            </a:r>
          </a:p>
          <a:p>
            <a:pPr>
              <a:spcAft>
                <a:spcPts val="800"/>
              </a:spcAft>
              <a:defRPr sz="1700"/>
            </a:pPr>
            <a:r>
              <a:t>Future: connect Power BI directly to a database.</a:t>
            </a:r>
          </a:p>
          <a:p>
            <a:pPr>
              <a:spcAft>
                <a:spcPts val="800"/>
              </a:spcAft>
              <a:defRPr sz="1700"/>
            </a:pPr>
            <a:r>
              <a:t>Future: deploy PySpark workflows on distributed/cloud infrastructure.</a:t>
            </a:r>
          </a:p>
          <a:p>
            <a:pPr>
              <a:spcAft>
                <a:spcPts val="800"/>
              </a:spcAft>
              <a:defRPr sz="1700"/>
            </a:pPr>
            <a:r>
              <a:t>Future: automate customer-retention alerts.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/>
            </a:pPr>
            <a:r>
              <a:t>E-Commerce Customer Behavior &amp; Churn Prediction System</a:t>
            </a:r>
          </a:p>
          <a:p>
            <a:pPr>
              <a:spcAft>
                <a:spcPts val="800"/>
              </a:spcAft>
              <a:defRPr sz="2200"/>
            </a:pPr>
            <a: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46520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